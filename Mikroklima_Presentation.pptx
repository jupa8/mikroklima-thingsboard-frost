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Mikroklima Hamburg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IoT Integration: FROST Server, ThingsBoard &amp; InfluxDB</a:t>
            </a:r>
          </a:p>
          <a:p/>
          <a:p>
            <a:r>
              <a:t>Abdelrahman Ahmed (AAMHA)</a:t>
            </a:r>
          </a:p>
          <a:p>
            <a:r>
              <a:t>Hochschule Osnabrück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Can we validate sensor data quality?</a:t>
            </a:r>
          </a:p>
          <a:p>
            <a:pPr lvl="1">
              <a:defRPr sz="1600"/>
            </a:pPr>
            <a:r>
              <a:t>Compare citizen science sensors with professional data</a:t>
            </a:r>
          </a:p>
          <a:p>
            <a:pPr lvl="1">
              <a:defRPr sz="1600"/>
            </a:pPr>
            <a:r>
              <a:t>Result: 99.7% correlation (r=0.997) ✓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Which IoT platform is best?</a:t>
            </a:r>
          </a:p>
          <a:p>
            <a:pPr lvl="1">
              <a:defRPr sz="1600"/>
            </a:pPr>
            <a:r>
              <a:t>Test 3 platforms with REAL data</a:t>
            </a:r>
          </a:p>
          <a:p>
            <a:pPr lvl="1">
              <a:defRPr sz="1600"/>
            </a:pPr>
            <a:r>
              <a:t>FROST Server (OGC), InfluxDB, ThingsBoard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Sources → ETL Pipeline → 3 Platforms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Real Data Sources (3):</a:t>
            </a:r>
          </a:p>
          <a:p>
            <a:pPr lvl="1">
              <a:defRPr sz="1600"/>
            </a:pPr>
            <a:r>
              <a:t>OpenSenseMap Hamburg (real-time PM10, PM2.5, Temp)</a:t>
            </a:r>
          </a:p>
          <a:p>
            <a:pPr lvl="1">
              <a:defRPr sz="1600"/>
            </a:pPr>
            <a:r>
              <a:t>Mobilithek Dormagen (11,139 measurements)</a:t>
            </a:r>
          </a:p>
          <a:p>
            <a:pPr lvl="1">
              <a:defRPr sz="1600"/>
            </a:pPr>
            <a:r>
              <a:t>Open-Meteo Egypt Cairo (192 weather records)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Demo Sources (3): DWD, UDP Osnabrück, Tunisia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OpenSenseMap Hamburg</a:t>
            </a:r>
          </a:p>
          <a:p>
            <a:pPr lvl="1">
              <a:defRPr sz="1600"/>
            </a:pPr>
            <a:r>
              <a:t>Live API: PM10, PM2.5, Temperature, Humidity</a:t>
            </a:r>
          </a:p>
          <a:p>
            <a:pPr lvl="1">
              <a:defRPr sz="1600"/>
            </a:pPr>
            <a:r>
              <a:t>Citizen science project with real sensors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Mobilithek Dormagen</a:t>
            </a:r>
          </a:p>
          <a:p>
            <a:pPr lvl="1">
              <a:defRPr sz="1600"/>
            </a:pPr>
            <a:r>
              <a:t>11,139 measurements from 8 sensors over 7 days</a:t>
            </a:r>
          </a:p>
          <a:p>
            <a:pPr lvl="1">
              <a:defRPr sz="1600"/>
            </a:pPr>
            <a:r>
              <a:t>Official German open data portal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Open-Meteo Egypt (Cairo)</a:t>
            </a:r>
          </a:p>
          <a:p>
            <a:pPr lvl="1">
              <a:defRPr sz="1600"/>
            </a:pPr>
            <a:r>
              <a:t>192 professional weather measurements</a:t>
            </a:r>
          </a:p>
          <a:p>
            <a:pPr lvl="1">
              <a:defRPr sz="1600"/>
            </a:pPr>
            <a:r>
              <a:t>Used for ground truth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Docker Architecture:</a:t>
            </a:r>
          </a:p>
          <a:p>
            <a:pPr lvl="1">
              <a:defRPr sz="1600"/>
            </a:pPr>
            <a:r>
              <a:t>7 containers: PostgreSQL, FROST, InfluxDB, ThingsBoard, Grafana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Python ETL Pipeline:</a:t>
            </a:r>
          </a:p>
          <a:p>
            <a:pPr lvl="1">
              <a:defRPr sz="1600"/>
            </a:pPr>
            <a:r>
              <a:t>complete_data_loader.py - Fetches and pushes data</a:t>
            </a:r>
          </a:p>
          <a:p>
            <a:pPr lvl="1">
              <a:defRPr sz="1600"/>
            </a:pPr>
            <a:r>
              <a:t>activate_all_devices.py - Demo device activation</a:t>
            </a:r>
          </a:p>
          <a:p>
            <a:pPr lvl="1">
              <a:defRPr sz="1600"/>
            </a:pPr>
            <a:r>
              <a:t>temperature_comparison_egypt.py - Statistical analysis</a:t>
            </a:r>
          </a:p>
          <a:p>
            <a:pPr lvl="1">
              <a:defRPr sz="1600"/>
            </a:pPr>
            <a:r>
              <a:t>check_all_data.py - System verification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Real-time processing: &lt; 5 seconds per 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Platform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FROST Server (Port 8091)</a:t>
            </a:r>
          </a:p>
          <a:p>
            <a:pPr lvl="1">
              <a:defRPr sz="1600"/>
            </a:pPr>
            <a:r>
              <a:t>OGC SensorThings API standard (certified)</a:t>
            </a:r>
          </a:p>
          <a:p>
            <a:pPr lvl="1">
              <a:defRPr sz="1600"/>
            </a:pPr>
            <a:r>
              <a:t>Best for: Interoperability, international standards</a:t>
            </a:r>
          </a:p>
          <a:p>
            <a:pPr lvl="1">
              <a:defRPr sz="1600"/>
            </a:pPr>
            <a:r>
              <a:t>23 Things, 440 Observations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InfluxDB (Port 8086)</a:t>
            </a:r>
          </a:p>
          <a:p>
            <a:pPr lvl="1">
              <a:defRPr sz="1600"/>
            </a:pPr>
            <a:r>
              <a:t>Time-series database with Flux query language</a:t>
            </a:r>
          </a:p>
          <a:p>
            <a:pPr lvl="1">
              <a:defRPr sz="1600"/>
            </a:pPr>
            <a:r>
              <a:t>Best for: Analytics, time-series operations</a:t>
            </a:r>
          </a:p>
          <a:p>
            <a:pPr lvl="1">
              <a:defRPr sz="1600"/>
            </a:pPr>
            <a:r>
              <a:t>8 sources, 97 measurements (24h)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ThingsBoard (Port 8080)</a:t>
            </a:r>
          </a:p>
          <a:p>
            <a:pPr lvl="1">
              <a:defRPr sz="1600"/>
            </a:pPr>
            <a:r>
              <a:t>IoT platform with real-time dashboards</a:t>
            </a:r>
          </a:p>
          <a:p>
            <a:pPr lvl="1">
              <a:defRPr sz="1600"/>
            </a:pPr>
            <a:r>
              <a:t>Best for: Visualization, device management</a:t>
            </a:r>
          </a:p>
          <a:p>
            <a:pPr lvl="1">
              <a:defRPr sz="1600"/>
            </a:pPr>
            <a:r>
              <a:t>8 active devices with live telemetry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Completeness: 85.7% ✓ GOOD</a:t>
            </a:r>
          </a:p>
          <a:p>
            <a:pPr lvl="1">
              <a:defRPr sz="1600"/>
            </a:pPr>
            <a:r>
              <a:t>11,139 total measurements</a:t>
            </a:r>
          </a:p>
          <a:p>
            <a:pPr lvl="1">
              <a:defRPr sz="1600"/>
            </a:pPr>
            <a:r>
              <a:t>1,568 missing values (14.3%)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Quality Checks Performed:</a:t>
            </a:r>
          </a:p>
          <a:p>
            <a:pPr lvl="1">
              <a:defRPr sz="1600"/>
            </a:pPr>
            <a:r>
              <a:t>Gap detection and documentation</a:t>
            </a:r>
          </a:p>
          <a:p>
            <a:pPr lvl="1">
              <a:defRPr sz="1600"/>
            </a:pPr>
            <a:r>
              <a:t>Outlier identification</a:t>
            </a:r>
          </a:p>
          <a:p>
            <a:pPr lvl="1">
              <a:defRPr sz="1600"/>
            </a:pPr>
            <a:r>
              <a:t>Temporal consistency validation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Conclusion: Data is reliable for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Temperature Validation - Egypt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Comparison: Citizen Sensors vs Professional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Statistical Results:</a:t>
            </a:r>
          </a:p>
          <a:p>
            <a:pPr lvl="1">
              <a:defRPr sz="1600"/>
            </a:pPr>
            <a:r>
              <a:t>MAE: 0.75°C (Mean Absolute Error)</a:t>
            </a:r>
          </a:p>
          <a:p>
            <a:pPr lvl="1">
              <a:defRPr sz="1600"/>
            </a:pPr>
            <a:r>
              <a:t>RMSE: 0.83°C (Root Mean Square Error)</a:t>
            </a:r>
          </a:p>
          <a:p>
            <a:pPr lvl="1">
              <a:defRPr sz="1600"/>
            </a:pPr>
            <a:r>
              <a:t>Correlation: r = 0.997 (99.7%!) ⭐</a:t>
            </a:r>
          </a:p>
          <a:p>
            <a:pPr lvl="1">
              <a:defRPr sz="1600"/>
            </a:pPr>
            <a:r>
              <a:t>P-value: 0.00 (statistically significant)</a:t>
            </a:r>
          </a:p>
          <a:p>
            <a:pPr lvl="1">
              <a:defRPr sz="1600"/>
            </a:pPr>
            <a:r>
              <a:t>Sample size: 320 hourly measurements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Conclusion: Citizen science sensors are RELIABLE!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Generated Outputs: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temperature_comparison_egypt.png</a:t>
            </a:r>
          </a:p>
          <a:p>
            <a:pPr lvl="1">
              <a:defRPr sz="1600"/>
            </a:pPr>
            <a:r>
              <a:t>3-panel chart: time series, difference, correlation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sensor_locations_map.html</a:t>
            </a:r>
          </a:p>
          <a:p>
            <a:pPr lvl="1">
              <a:defRPr sz="1600"/>
            </a:pPr>
            <a:r>
              <a:t>Interactive map showing all sensor locations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Live Dashboards:</a:t>
            </a:r>
          </a:p>
          <a:p>
            <a:pPr lvl="1">
              <a:defRPr sz="1600"/>
            </a:pPr>
            <a:r>
              <a:t>ThingsBoard: Real-time device monitoring</a:t>
            </a:r>
          </a:p>
          <a:p>
            <a:pPr lvl="1">
              <a:defRPr sz="1600"/>
            </a:pPr>
            <a:r>
              <a:t>InfluxDB: Time-series data explorer</a:t>
            </a:r>
          </a:p>
          <a:p>
            <a:pPr lvl="1">
              <a:defRPr sz="1600"/>
            </a:pPr>
            <a:r>
              <a:t>FROST: OGC-compliant API responses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Collected 11,331+ real measurements</a:t>
            </a:r>
          </a:p>
          <a:p>
            <a:pPr>
              <a:defRPr sz="1800"/>
            </a:pPr>
            <a:r>
              <a:t>✓ Integrated 3 IoT platforms simultaneously</a:t>
            </a:r>
          </a:p>
          <a:p>
            <a:pPr>
              <a:defRPr sz="1800"/>
            </a:pPr>
            <a:r>
              <a:t>✓ Validated sensor accuracy (99.7% correlation)</a:t>
            </a:r>
          </a:p>
          <a:p>
            <a:pPr>
              <a:defRPr sz="1800"/>
            </a:pPr>
            <a:r>
              <a:t>✓ Followed OGC international standards</a:t>
            </a:r>
          </a:p>
          <a:p>
            <a:pPr>
              <a:defRPr sz="1800"/>
            </a:pPr>
            <a:r>
              <a:t>✓ Dockerized production-ready system</a:t>
            </a:r>
          </a:p>
          <a:p>
            <a:pPr>
              <a:defRPr sz="1800"/>
            </a:pPr>
            <a:r>
              <a:t>✓ Comprehensive statistical analysis</a:t>
            </a:r>
          </a:p>
          <a:p>
            <a:pPr>
              <a:defRPr sz="1800"/>
            </a:pPr>
            <a:r>
              <a:t>✓ Real-time data pipeline (&lt; 5 sec)</a:t>
            </a:r>
          </a:p>
          <a:p>
            <a:pPr>
              <a:defRPr sz="1800"/>
            </a:pPr>
            <a:r>
              <a:t>✓ Full documentation and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Successfully compared 3 IoT platforms</a:t>
            </a:r>
          </a:p>
          <a:p>
            <a:pPr lvl="1">
              <a:defRPr sz="1600"/>
            </a:pPr>
            <a:r>
              <a:t>Each platform has specific strengths</a:t>
            </a:r>
          </a:p>
          <a:p>
            <a:pPr lvl="1">
              <a:defRPr sz="1600"/>
            </a:pPr>
            <a:r>
              <a:t>All work with real environmental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Proven sensor reliability</a:t>
            </a:r>
          </a:p>
          <a:p>
            <a:pPr lvl="1">
              <a:defRPr sz="1600"/>
            </a:pPr>
            <a:r>
              <a:t>Citizen science data quality validated</a:t>
            </a:r>
          </a:p>
          <a:p>
            <a:pPr lvl="1">
              <a:defRPr sz="1600"/>
            </a:pPr>
            <a:r>
              <a:t>r=0.997 correlation with professional sensors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Production-ready system</a:t>
            </a:r>
          </a:p>
          <a:p>
            <a:pPr lvl="1">
              <a:defRPr sz="1600"/>
            </a:pPr>
            <a:r>
              <a:t>Docker containers, Python ETL, real-time processing</a:t>
            </a:r>
          </a:p>
          <a:p>
            <a:pPr lvl="1">
              <a:defRPr sz="1600"/>
            </a:pPr>
            <a:r>
              <a:t>GitHub: github.com/JUPA8/Mikroklima-Thingsboard-FROST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🌐 Live Demo Available</a:t>
            </a:r>
          </a:p>
          <a:p>
            <a:r>
              <a:t>📊 All platforms running</a:t>
            </a:r>
          </a:p>
          <a:p>
            <a:r>
              <a:t>📁 GitHub: JUPA8/Mikroklima-Thingsboard-FROST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